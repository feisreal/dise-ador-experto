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4287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3342" y="1598637"/>
            <a:ext cx="7097316" cy="19176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023342" y="1598637"/>
            <a:ext cx="28575" cy="19176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2"/>
          <p:cNvSpPr/>
          <p:nvPr/>
        </p:nvSpPr>
        <p:spPr>
          <a:xfrm>
            <a:off x="1323380" y="1904953"/>
            <a:ext cx="6782991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spc="2" kern="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OPTIMIZACIÓN WEB Y SEO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1323380" y="2651894"/>
            <a:ext cx="678299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B8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 Clave: FEISS Showcase Store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23380" y="3185889"/>
            <a:ext cx="67829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1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Presentado por: Manus AI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73997"/>
            <a:ext cx="40005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DIAGNÓSTICO Y CORRECCIÓN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25852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5825" y="2224078"/>
            <a:ext cx="36861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Problema Detectado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885825" y="2511614"/>
            <a:ext cx="36861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Cuadros en blanco en la sección de auditoría debido a bloqueos de seguridad en iframes de HeyGen e iconos rotos (fa-presentation).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79164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5825" y="3277391"/>
            <a:ext cx="36861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Solución Aplicada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885825" y="3564927"/>
            <a:ext cx="36861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Reemplazo por videos de YouTube de alta calidad y corrección masiva de iconos a fa-file-powerpoint.</a:t>
            </a:r>
            <a:endParaRPr lang="en-US" sz="850" dirty="0"/>
          </a:p>
        </p:txBody>
      </p:sp>
      <p:sp>
        <p:nvSpPr>
          <p:cNvPr id="10" name="Shape 5"/>
          <p:cNvSpPr/>
          <p:nvPr/>
        </p:nvSpPr>
        <p:spPr>
          <a:xfrm>
            <a:off x="5207794" y="1421606"/>
            <a:ext cx="3300413" cy="2586038"/>
          </a:xfrm>
          <a:prstGeom prst="rect">
            <a:avLst/>
          </a:prstGeom>
          <a:solidFill>
            <a:srgbClr val="1A1A1A"/>
          </a:solidFill>
          <a:ln w="9144">
            <a:solidFill>
              <a:srgbClr val="263238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75" y="1500188"/>
            <a:ext cx="3143250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3542" y="1278731"/>
            <a:ext cx="4300538" cy="2871788"/>
          </a:xfrm>
          <a:prstGeom prst="rect">
            <a:avLst/>
          </a:prstGeom>
          <a:solidFill>
            <a:srgbClr val="000000"/>
          </a:solidFill>
          <a:ln w="9144">
            <a:solidFill>
              <a:srgbClr val="263238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23" y="1357313"/>
            <a:ext cx="4143375" cy="27146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87621" y="1413765"/>
            <a:ext cx="358487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PORTADAS CON HIGGSFIELD</a:t>
            </a:r>
            <a:endParaRPr lang="en-US" sz="16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21" y="1943295"/>
            <a:ext cx="160734" cy="1285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255512" y="1920971"/>
            <a:ext cx="91082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8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Generativa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4987621" y="2208507"/>
            <a:ext cx="3584879" cy="342900"/>
          </a:xfrm>
          <a:prstGeom prst="rect">
            <a:avLst/>
          </a:prstGeom>
          <a:noFill/>
          <a:ln/>
        </p:spPr>
        <p:txBody>
          <a:bodyPr wrap="square" lIns="28067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Creación de imágenes tecnológicas únicas y personalizadas para cada sección de video.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621" y="2752325"/>
            <a:ext cx="128588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223365" y="2730001"/>
            <a:ext cx="116978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8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Estética Premium</a:t>
            </a:r>
            <a:endParaRPr lang="en-US" sz="1000" dirty="0"/>
          </a:p>
        </p:txBody>
      </p:sp>
      <p:sp>
        <p:nvSpPr>
          <p:cNvPr id="11" name="Text 5"/>
          <p:cNvSpPr/>
          <p:nvPr/>
        </p:nvSpPr>
        <p:spPr>
          <a:xfrm>
            <a:off x="4987621" y="3017537"/>
            <a:ext cx="3584879" cy="342900"/>
          </a:xfrm>
          <a:prstGeom prst="rect">
            <a:avLst/>
          </a:prstGeom>
          <a:noFill/>
          <a:ln/>
        </p:spPr>
        <p:txBody>
          <a:bodyPr wrap="square" lIns="28067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Sustitución de miniaturas genéricas por arte digital que refuerza la autoridad técnica.</a:t>
            </a:r>
            <a:endParaRPr lang="en-US" sz="8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7621" y="3561355"/>
            <a:ext cx="128588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223365" y="3539030"/>
            <a:ext cx="99119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8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Visual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4987621" y="3826566"/>
            <a:ext cx="3584879" cy="342900"/>
          </a:xfrm>
          <a:prstGeom prst="rect">
            <a:avLst/>
          </a:prstGeom>
          <a:noFill/>
          <a:ln/>
        </p:spPr>
        <p:txBody>
          <a:bodyPr wrap="square" lIns="28067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Mejora inmediata en la percepción de calidad y profesionalismo del sitio FEISS.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OPTIMIZACIÓN MÓVIL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414463" y="1278731"/>
            <a:ext cx="600075" cy="600075"/>
          </a:xfrm>
          <a:prstGeom prst="ellipse">
            <a:avLst/>
          </a:prstGeom>
          <a:solidFill>
            <a:srgbClr val="1A1A1A"/>
          </a:solidFill>
          <a:ln w="18288">
            <a:solidFill>
              <a:srgbClr val="00B8D4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450181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2064544"/>
            <a:ext cx="2286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CARGA DIFERIDA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71500" y="2380655"/>
            <a:ext cx="22860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 Awesome se carga de forma asíncrona para evitar bloqueos en el renderizado inicial.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294442" y="3150701"/>
            <a:ext cx="840116" cy="173236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9" name="Text 5"/>
          <p:cNvSpPr/>
          <p:nvPr/>
        </p:nvSpPr>
        <p:spPr>
          <a:xfrm>
            <a:off x="1294442" y="3150701"/>
            <a:ext cx="840116" cy="17323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00E5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async / defer</a:t>
            </a:r>
            <a:endParaRPr lang="en-US" sz="600" dirty="0"/>
          </a:p>
        </p:txBody>
      </p:sp>
      <p:sp>
        <p:nvSpPr>
          <p:cNvPr id="10" name="Shape 6"/>
          <p:cNvSpPr/>
          <p:nvPr/>
        </p:nvSpPr>
        <p:spPr>
          <a:xfrm>
            <a:off x="4271963" y="1278731"/>
            <a:ext cx="600075" cy="600075"/>
          </a:xfrm>
          <a:prstGeom prst="ellipse">
            <a:avLst/>
          </a:prstGeom>
          <a:solidFill>
            <a:srgbClr val="1A1A1A"/>
          </a:solidFill>
          <a:ln w="18288">
            <a:solidFill>
              <a:srgbClr val="00B8D4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275" y="1450181"/>
            <a:ext cx="17145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29000" y="2064544"/>
            <a:ext cx="2286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MEJORA LCP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3429000" y="2380655"/>
            <a:ext cx="22860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Priorización del contenido visible mediante técnicas de renderizado inteligente.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3869038" y="3150701"/>
            <a:ext cx="1405896" cy="173236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5" name="Text 10"/>
          <p:cNvSpPr/>
          <p:nvPr/>
        </p:nvSpPr>
        <p:spPr>
          <a:xfrm>
            <a:off x="3869038" y="3150701"/>
            <a:ext cx="1405896" cy="173236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00E5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content-visibility: auto</a:t>
            </a:r>
            <a:endParaRPr lang="en-US" sz="600" dirty="0"/>
          </a:p>
        </p:txBody>
      </p:sp>
      <p:sp>
        <p:nvSpPr>
          <p:cNvPr id="16" name="Shape 11"/>
          <p:cNvSpPr/>
          <p:nvPr/>
        </p:nvSpPr>
        <p:spPr>
          <a:xfrm>
            <a:off x="7129463" y="1278731"/>
            <a:ext cx="600075" cy="600075"/>
          </a:xfrm>
          <a:prstGeom prst="ellipse">
            <a:avLst/>
          </a:prstGeom>
          <a:solidFill>
            <a:srgbClr val="1A1A1A"/>
          </a:solidFill>
          <a:ln w="18288">
            <a:solidFill>
              <a:srgbClr val="00B8D4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775" y="1450181"/>
            <a:ext cx="17145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86500" y="2064544"/>
            <a:ext cx="2286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DISEÑO ADAPTATIVO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286500" y="2380655"/>
            <a:ext cx="22860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Ajustes CSS específicos para garantizar una visualización fluida en cualquier dispositivo.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6983713" y="3150701"/>
            <a:ext cx="891546" cy="173236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21" name="Text 15"/>
          <p:cNvSpPr/>
          <p:nvPr/>
        </p:nvSpPr>
        <p:spPr>
          <a:xfrm>
            <a:off x="6983713" y="3150701"/>
            <a:ext cx="891546" cy="17323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00E5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@media queries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618353"/>
            <a:ext cx="91440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MÉTRICAS DE CORE WEB VITALS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0" y="1025547"/>
            <a:ext cx="9144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B8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Comparativa de rendimiento: Antes vs. Después de la Optimización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1350169" y="1538111"/>
            <a:ext cx="6443663" cy="1959173"/>
          </a:xfrm>
          <a:prstGeom prst="rect">
            <a:avLst/>
          </a:prstGeom>
          <a:solidFill>
            <a:srgbClr val="263238">
              <a:alpha val="30000"/>
            </a:srgbClr>
          </a:solidFill>
          <a:ln w="9144">
            <a:solidFill>
              <a:srgbClr val="00B8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57313" y="1680986"/>
            <a:ext cx="2871229" cy="4500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Métrica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228542" y="1680986"/>
            <a:ext cx="1202661" cy="450056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Antes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31203" y="1680986"/>
            <a:ext cx="1200290" cy="450056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Después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631493" y="1680986"/>
            <a:ext cx="1155195" cy="450056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Estado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357313" y="2131042"/>
            <a:ext cx="2871229" cy="45184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LCP (Largest Contentful Paint)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228542" y="2131042"/>
            <a:ext cx="1202661" cy="451842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~3200 ms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31203" y="2131042"/>
            <a:ext cx="1200290" cy="451842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~1400 ms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368" y="2293562"/>
            <a:ext cx="128588" cy="128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60105" y="2281061"/>
            <a:ext cx="3964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Bueno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357313" y="2582884"/>
            <a:ext cx="2871229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FID (First Input Delay)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228542" y="2582884"/>
            <a:ext cx="1202661" cy="448270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~150 ms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431203" y="2582884"/>
            <a:ext cx="1200290" cy="448270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~45 ms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368" y="2741833"/>
            <a:ext cx="128588" cy="1285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60105" y="2729331"/>
            <a:ext cx="3964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Bueno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357313" y="3031155"/>
            <a:ext cx="2871229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CLS (Cumulative Layout Shift)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228542" y="3031155"/>
            <a:ext cx="1202661" cy="448270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~0.25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431203" y="3031155"/>
            <a:ext cx="1200290" cy="448270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~0.05</a:t>
            </a:r>
            <a:endParaRPr lang="en-US" sz="9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368" y="3190103"/>
            <a:ext cx="128588" cy="128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60105" y="3177601"/>
            <a:ext cx="3964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Bueno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232492"/>
            <a:ext cx="40005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EFICIENCIA DE RECURSOS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796848"/>
            <a:ext cx="40005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53% Menos Peso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71500" y="2145106"/>
            <a:ext cx="40005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1" kern="0" dirty="0">
                <a:solidFill>
                  <a:srgbClr val="00B8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OPTIMIZACIÓN DE CARGA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336202"/>
            <a:ext cx="40005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Reducción del tamaño inicial de la página de 120 KB a solo 56 KB.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71500" y="2707677"/>
            <a:ext cx="40005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 ms TTFB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71500" y="3055934"/>
            <a:ext cx="40005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1" kern="0" dirty="0">
                <a:solidFill>
                  <a:srgbClr val="00B8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 DEL SERVIDOR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1500" y="3247030"/>
            <a:ext cx="40005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 de respuesta optimizado para una entrega de contenido casi instantánea.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71500" y="3618505"/>
            <a:ext cx="40005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Layout Shift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71500" y="3966763"/>
            <a:ext cx="40005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1" kern="0" dirty="0">
                <a:solidFill>
                  <a:srgbClr val="00B8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ESTABILIDAD VISUAL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71500" y="4157858"/>
            <a:ext cx="40005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Eliminación de saltos de diseño mediante dimensiones de medios predefinidas.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779169" y="1254621"/>
            <a:ext cx="3586163" cy="2728913"/>
          </a:xfrm>
          <a:prstGeom prst="rect">
            <a:avLst/>
          </a:prstGeom>
          <a:solidFill>
            <a:srgbClr val="263238">
              <a:alpha val="30000"/>
            </a:srgbClr>
          </a:solidFill>
          <a:ln w="9144">
            <a:solidFill>
              <a:srgbClr val="26323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313" y="1476077"/>
            <a:ext cx="3571875" cy="2143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23049" y="4119265"/>
            <a:ext cx="1498402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Comparativa de Peso de Página (KB)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618353"/>
            <a:ext cx="91440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spc="2" kern="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IMPACTO DIRECTO EN EL SEO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642938" y="1325584"/>
            <a:ext cx="2428875" cy="28003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2"/>
          <p:cNvSpPr/>
          <p:nvPr/>
        </p:nvSpPr>
        <p:spPr>
          <a:xfrm>
            <a:off x="642938" y="1325584"/>
            <a:ext cx="2428875" cy="14288"/>
          </a:xfrm>
          <a:prstGeom prst="rect">
            <a:avLst/>
          </a:prstGeom>
          <a:solidFill>
            <a:srgbClr val="00B8D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5" y="1611334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2938" y="2289990"/>
            <a:ext cx="242887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Ranking Superior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42938" y="2623961"/>
            <a:ext cx="2428875" cy="731453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Cumplimiento total de los estándares </a:t>
            </a: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</a:t>
            </a:r>
            <a:r>
              <a:rPr lang="en-US" sz="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Web Vitals</a:t>
            </a: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Google, </a:t>
            </a: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otorgando una ventaja competitiva en </a:t>
            </a: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resultados de búsqueda.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357563" y="1325584"/>
            <a:ext cx="2428875" cy="28003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Shape 6"/>
          <p:cNvSpPr/>
          <p:nvPr/>
        </p:nvSpPr>
        <p:spPr>
          <a:xfrm>
            <a:off x="3357563" y="1325584"/>
            <a:ext cx="2428875" cy="14288"/>
          </a:xfrm>
          <a:prstGeom prst="rect">
            <a:avLst/>
          </a:prstGeom>
          <a:solidFill>
            <a:srgbClr val="00B8D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413" y="1611334"/>
            <a:ext cx="257175" cy="342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57563" y="2289990"/>
            <a:ext cx="242887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Indexación Mobile-First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357563" y="2623961"/>
            <a:ext cx="2428875" cy="731453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Optimización crítica para la </a:t>
            </a:r>
            <a:r>
              <a:rPr lang="en-US" sz="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indexación </a:t>
            </a:r>
            <a:r>
              <a:rPr lang="en-US" sz="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móvil</a:t>
            </a: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asegurando que la versión </a:t>
            </a: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principal del sitio sea rápida, estable y </a:t>
            </a: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accesible.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6072188" y="1325584"/>
            <a:ext cx="2428875" cy="28003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0"/>
          <p:cNvSpPr/>
          <p:nvPr/>
        </p:nvSpPr>
        <p:spPr>
          <a:xfrm>
            <a:off x="6072188" y="1325584"/>
            <a:ext cx="2428875" cy="14288"/>
          </a:xfrm>
          <a:prstGeom prst="rect">
            <a:avLst/>
          </a:prstGeom>
          <a:solidFill>
            <a:srgbClr val="00B8D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175" y="1611334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72188" y="2289990"/>
            <a:ext cx="242887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Autoridad Técnica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072188" y="2623961"/>
            <a:ext cx="2428875" cy="731453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Mejoras de infraestructura que </a:t>
            </a: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protegen el dominio contra futuras </a:t>
            </a:r>
            <a:r>
              <a:rPr lang="en-US" sz="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actualizaciones de algoritmo</a:t>
            </a: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centradas </a:t>
            </a: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la experiencia de usuario.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BENEFICIOS SEO PROYECTADOS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135856"/>
            <a:ext cx="2476481" cy="2743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35856"/>
            <a:ext cx="2476481" cy="28575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6" name="Shape 3"/>
          <p:cNvSpPr/>
          <p:nvPr/>
        </p:nvSpPr>
        <p:spPr>
          <a:xfrm>
            <a:off x="1595428" y="1350169"/>
            <a:ext cx="428625" cy="428625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447" y="1478756"/>
            <a:ext cx="128588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4375" y="1921669"/>
            <a:ext cx="21907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Visibilidad Móvil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1356113" y="2202061"/>
            <a:ext cx="907256" cy="178594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10" name="Text 6"/>
          <p:cNvSpPr/>
          <p:nvPr/>
        </p:nvSpPr>
        <p:spPr>
          <a:xfrm>
            <a:off x="1356113" y="2202061"/>
            <a:ext cx="907256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ALTO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714375" y="2637830"/>
            <a:ext cx="2190731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Alineación total con los requisitos de indexación mobile-first de Google, asegurando presencia en búsquedas móviles.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333731" y="1135856"/>
            <a:ext cx="2476509" cy="2743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9"/>
          <p:cNvSpPr/>
          <p:nvPr/>
        </p:nvSpPr>
        <p:spPr>
          <a:xfrm>
            <a:off x="3333731" y="1135856"/>
            <a:ext cx="2476509" cy="28575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14" name="Shape 10"/>
          <p:cNvSpPr/>
          <p:nvPr/>
        </p:nvSpPr>
        <p:spPr>
          <a:xfrm>
            <a:off x="4357660" y="1350169"/>
            <a:ext cx="428625" cy="428625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247" y="1478756"/>
            <a:ext cx="171450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76606" y="1921669"/>
            <a:ext cx="21907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Crawl Budget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079946" y="2202061"/>
            <a:ext cx="984052" cy="178594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18" name="Text 13"/>
          <p:cNvSpPr/>
          <p:nvPr/>
        </p:nvSpPr>
        <p:spPr>
          <a:xfrm>
            <a:off x="4079946" y="2202061"/>
            <a:ext cx="984052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MEJORA 15-20%</a:t>
            </a:r>
            <a:endParaRPr lang="en-US" sz="700" dirty="0"/>
          </a:p>
        </p:txBody>
      </p:sp>
      <p:sp>
        <p:nvSpPr>
          <p:cNvPr id="19" name="Text 14"/>
          <p:cNvSpPr/>
          <p:nvPr/>
        </p:nvSpPr>
        <p:spPr>
          <a:xfrm>
            <a:off x="3476606" y="2637830"/>
            <a:ext cx="2190759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Páginas más ligeras permiten a los bots de búsqueda rastrear e indexar más contenido con menos recursos del servidor.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095991" y="1135856"/>
            <a:ext cx="2476481" cy="2743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Shape 16"/>
          <p:cNvSpPr/>
          <p:nvPr/>
        </p:nvSpPr>
        <p:spPr>
          <a:xfrm>
            <a:off x="6095991" y="1135856"/>
            <a:ext cx="2476481" cy="28575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22" name="Shape 17"/>
          <p:cNvSpPr/>
          <p:nvPr/>
        </p:nvSpPr>
        <p:spPr>
          <a:xfrm>
            <a:off x="7119919" y="1350169"/>
            <a:ext cx="428625" cy="428625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506" y="1478756"/>
            <a:ext cx="171450" cy="1714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38866" y="1921669"/>
            <a:ext cx="21907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Tasa de Conversión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727906" y="2202061"/>
            <a:ext cx="1212652" cy="178594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26" name="Text 20"/>
          <p:cNvSpPr/>
          <p:nvPr/>
        </p:nvSpPr>
        <p:spPr>
          <a:xfrm>
            <a:off x="6727906" y="2202061"/>
            <a:ext cx="1212652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INCREMENTO 10-15%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6238866" y="2637830"/>
            <a:ext cx="2190731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Correlación directa entre la velocidad de carga y la retención de usuarios, reduciendo el rebote y aumentando ventas.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438266"/>
            <a:ext cx="40005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CONCLUSIONES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02622"/>
            <a:ext cx="192881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7256" y="2145497"/>
            <a:ext cx="3664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Estado de Excelencia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907256" y="2433033"/>
            <a:ext cx="366474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sitio ha pasado de una categoría de "Necesita mejorar" a un </a:t>
            </a: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 de </a:t>
            </a:r>
            <a:r>
              <a:rPr lang="en-US" sz="800" b="1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Rendimiento Excelente</a:t>
            </a: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Core Web Vitals.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63091"/>
            <a:ext cx="171450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5825" y="3305966"/>
            <a:ext cx="36861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Base Sólida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885825" y="3593502"/>
            <a:ext cx="36861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Infraestructura optimizada que garantiza escalabilidad y protección contra cambios en algoritmos de búsqueda.</a:t>
            </a:r>
            <a:endParaRPr lang="en-US" sz="850" dirty="0"/>
          </a:p>
        </p:txBody>
      </p:sp>
      <p:sp>
        <p:nvSpPr>
          <p:cNvPr id="10" name="Shape 5"/>
          <p:cNvSpPr/>
          <p:nvPr/>
        </p:nvSpPr>
        <p:spPr>
          <a:xfrm>
            <a:off x="4572000" y="802081"/>
            <a:ext cx="4572000" cy="353931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6"/>
          <p:cNvSpPr/>
          <p:nvPr/>
        </p:nvSpPr>
        <p:spPr>
          <a:xfrm>
            <a:off x="4572000" y="802081"/>
            <a:ext cx="7144" cy="3539310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2" name="Text 7"/>
          <p:cNvSpPr/>
          <p:nvPr/>
        </p:nvSpPr>
        <p:spPr>
          <a:xfrm>
            <a:off x="5000625" y="1420434"/>
            <a:ext cx="35718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VENTAJA COMPETITIVA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1984790"/>
            <a:ext cx="128588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72088" y="2127665"/>
            <a:ext cx="33004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Velocidad como Diferencial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5272088" y="2415201"/>
            <a:ext cx="33004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Superioridad técnica frente a competidores con sitios más pesados, mejorando la retención y la conversión.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5000625" y="3145259"/>
            <a:ext cx="3571875" cy="1196132"/>
          </a:xfrm>
          <a:prstGeom prst="rect">
            <a:avLst/>
          </a:prstGeom>
          <a:solidFill>
            <a:srgbClr val="00E5FF">
              <a:alpha val="5000"/>
            </a:srgbClr>
          </a:solidFill>
          <a:ln w="9144">
            <a:solidFill>
              <a:srgbClr val="00B8D4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214938" y="3537719"/>
            <a:ext cx="31432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VISIÓN A FUTURO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5214938" y="3807396"/>
            <a:ext cx="3143250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optimización realizada no es solo una mejora visual, sino una inversión estratégica en la autoridad digital de FEISS.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RECOMENDACIONES DE CONTINUIDAD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135856"/>
            <a:ext cx="8001000" cy="1000125"/>
          </a:xfrm>
          <a:prstGeom prst="rect">
            <a:avLst/>
          </a:prstGeom>
          <a:solidFill>
            <a:srgbClr val="263238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35856"/>
            <a:ext cx="28575" cy="1000125"/>
          </a:xfrm>
          <a:prstGeom prst="rect">
            <a:avLst/>
          </a:prstGeom>
          <a:solidFill>
            <a:srgbClr val="00B8D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31" y="1560909"/>
            <a:ext cx="357188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00188" y="1465362"/>
            <a:ext cx="625792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Minificación Automática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500188" y="1785045"/>
            <a:ext cx="62579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Implementar procesos de compilación (build step) para minificar HTML, CSS y JS antes del despliegue.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71500" y="2421731"/>
            <a:ext cx="8001000" cy="1000125"/>
          </a:xfrm>
          <a:prstGeom prst="rect">
            <a:avLst/>
          </a:prstGeom>
          <a:solidFill>
            <a:srgbClr val="263238">
              <a:alpha val="2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571500" y="2421731"/>
            <a:ext cx="28575" cy="1000125"/>
          </a:xfrm>
          <a:prstGeom prst="rect">
            <a:avLst/>
          </a:prstGeom>
          <a:solidFill>
            <a:srgbClr val="00B8D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846784"/>
            <a:ext cx="285750" cy="28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0188" y="2751237"/>
            <a:ext cx="6697266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Caché de Servidor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500188" y="3070920"/>
            <a:ext cx="669726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Configurar políticas de caché agresivas (Cache-Control) para recursos estáticos en el servidor de producción.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71500" y="3707606"/>
            <a:ext cx="8001000" cy="1000125"/>
          </a:xfrm>
          <a:prstGeom prst="rect">
            <a:avLst/>
          </a:prstGeom>
          <a:solidFill>
            <a:srgbClr val="263238">
              <a:alpha val="20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" y="3707606"/>
            <a:ext cx="28575" cy="1000125"/>
          </a:xfrm>
          <a:prstGeom prst="rect">
            <a:avLst/>
          </a:prstGeom>
          <a:solidFill>
            <a:srgbClr val="00B8D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391" y="4132659"/>
            <a:ext cx="321469" cy="2857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00188" y="4037112"/>
            <a:ext cx="632400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Monitoreo Continuo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500188" y="4356795"/>
            <a:ext cx="632400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Integrar herramientas de monitoreo de usuarios reales (RUM) para rastrear métricas de Core Web Vitals.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67310" y="1900377"/>
            <a:ext cx="3609380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150" b="1" spc="3" kern="0" dirty="0">
                <a:solidFill>
                  <a:srgbClr val="00E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¡GRACIAS!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2767310" y="2786621"/>
            <a:ext cx="360938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B8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¿Tienes alguna pregunta?</a:t>
            </a:r>
            <a:endParaRPr lang="en-US" sz="1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310" y="3505460"/>
            <a:ext cx="125016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978051" y="3492066"/>
            <a:ext cx="152697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Feisreal/feiss-knowledge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777" y="3505460"/>
            <a:ext cx="128588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05090" y="3492066"/>
            <a:ext cx="13716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FEISS Showcase Store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2026-05-22T04:57:44Z</dcterms:created>
  <dcterms:modified xsi:type="dcterms:W3CDTF">2026-05-22T04:57:44Z</dcterms:modified>
</cp:coreProperties>
</file>